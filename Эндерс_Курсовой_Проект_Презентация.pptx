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перемещения страницы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61CAF1E-4BA2-4976-B5F5-8BF5462C434E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CF9630E-C1DE-4DC9-878B-FC0E5813DF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EFECB3B-B386-43BC-B7A3-F9485DE5AC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1FFAD26-4FE8-4F96-B336-968585FAFF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7CA4DC4-66D4-4889-969A-4721F28E3D8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4EC326B-6572-4535-86BA-C3982EA3E33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E653E12-512B-4DCA-96EE-CB480B1805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1C455CA-2117-4810-915C-28922616D7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706D1CB-FC21-426E-82F6-55C6FD5EFF3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73C391E-969A-4CFB-AE0E-2392FBBF16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7CD94C2-8935-43C3-9B0D-CF1F1BA7C6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2A917F8-280A-4ACA-8604-C54091375A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9AE243F-97E2-4512-9E96-B13C966F112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8AC968A-F823-4DDF-85EA-34212EFBC5C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24B174-7C82-4054-AFEB-8B2B61E301C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544E758-9331-4A6C-90BF-1FE53DEDA2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9006840" y="0"/>
            <a:ext cx="3181320" cy="68572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685800" y="1051560"/>
            <a:ext cx="777168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Разработка Python-приложения для анализа и кластеризации российских вузов</a:t>
            </a:r>
            <a:endParaRPr lang="ru-RU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713160" y="2880360"/>
            <a:ext cx="7131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ddebff"/>
                </a:solidFill>
                <a:effectLst/>
                <a:uFillTx/>
                <a:latin typeface="Arial"/>
                <a:ea typeface="Arial"/>
              </a:rPr>
              <a:t>Курсовой проект по дисциплине «Основы программирования на языке Python»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713160" y="5303520"/>
            <a:ext cx="71316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Автор: Эндерс Глеб Вадимович, группа 4.407-1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Научный руководитель: Горбачева Зоя Евгеньевна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9144000" y="1417320"/>
            <a:ext cx="1828080" cy="1828080"/>
          </a:xfrm>
          <a:prstGeom prst="arc">
            <a:avLst>
              <a:gd name="adj1" fmla="val 16200000"/>
              <a:gd name="adj2" fmla="val 0"/>
            </a:avLst>
          </a:prstGeom>
          <a:noFill/>
          <a:ln w="38100">
            <a:solidFill>
              <a:srgbClr val="ffffff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8686800" y="3017520"/>
            <a:ext cx="2559600" cy="2559600"/>
          </a:xfrm>
          <a:prstGeom prst="arc">
            <a:avLst>
              <a:gd name="adj1" fmla="val 16200000"/>
              <a:gd name="adj2" fmla="val 0"/>
            </a:avLst>
          </a:prstGeom>
          <a:noFill/>
          <a:ln w="25400">
            <a:solidFill>
              <a:srgbClr val="ffff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11384280" y="6473880"/>
            <a:ext cx="2278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ru-RU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594360" y="320040"/>
            <a:ext cx="8686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Цель проекта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621720" y="868680"/>
            <a:ext cx="9874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Что должно быть получено в результате работы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2"/>
          <p:cNvSpPr/>
          <p:nvPr/>
        </p:nvSpPr>
        <p:spPr>
          <a:xfrm>
            <a:off x="594360" y="1206720"/>
            <a:ext cx="10972800" cy="360"/>
          </a:xfrm>
          <a:prstGeom prst="line">
            <a:avLst/>
          </a:prstGeom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3"/>
          <p:cNvSpPr/>
          <p:nvPr/>
        </p:nvSpPr>
        <p:spPr>
          <a:xfrm>
            <a:off x="868680" y="1737360"/>
            <a:ext cx="103320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f4e79"/>
                </a:solidFill>
                <a:effectLst/>
                <a:uFillTx/>
                <a:latin typeface="Arial"/>
                <a:ea typeface="Arial"/>
              </a:rPr>
              <a:t>Разработать Python-приложение для анализа и кластеризации российских вузов по показателям эффективности.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4"/>
          <p:cNvSpPr/>
          <p:nvPr/>
        </p:nvSpPr>
        <p:spPr>
          <a:xfrm>
            <a:off x="914400" y="3200400"/>
            <a:ext cx="3199680" cy="1279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5"/>
          <p:cNvSpPr/>
          <p:nvPr/>
        </p:nvSpPr>
        <p:spPr>
          <a:xfrm>
            <a:off x="914400" y="3200400"/>
            <a:ext cx="72360" cy="12794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6"/>
          <p:cNvSpPr/>
          <p:nvPr/>
        </p:nvSpPr>
        <p:spPr>
          <a:xfrm>
            <a:off x="1143000" y="3401640"/>
            <a:ext cx="2788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Данные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7"/>
          <p:cNvSpPr/>
          <p:nvPr/>
        </p:nvSpPr>
        <p:spPr>
          <a:xfrm>
            <a:off x="1143000" y="3794760"/>
            <a:ext cx="2788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открытый датасет показателей эффективности вузов за 2025 год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8"/>
          <p:cNvSpPr/>
          <p:nvPr/>
        </p:nvSpPr>
        <p:spPr>
          <a:xfrm>
            <a:off x="4480560" y="3200400"/>
            <a:ext cx="3199680" cy="1279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9"/>
          <p:cNvSpPr/>
          <p:nvPr/>
        </p:nvSpPr>
        <p:spPr>
          <a:xfrm>
            <a:off x="4480560" y="3200400"/>
            <a:ext cx="72360" cy="12794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0"/>
          <p:cNvSpPr/>
          <p:nvPr/>
        </p:nvSpPr>
        <p:spPr>
          <a:xfrm>
            <a:off x="4709160" y="3401640"/>
            <a:ext cx="2788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ML-анализ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4709160" y="3794760"/>
            <a:ext cx="2788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кластеризация вузов методом K-means по 7 признакам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2"/>
          <p:cNvSpPr/>
          <p:nvPr/>
        </p:nvSpPr>
        <p:spPr>
          <a:xfrm>
            <a:off x="8046720" y="3200400"/>
            <a:ext cx="3199680" cy="1279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3"/>
          <p:cNvSpPr/>
          <p:nvPr/>
        </p:nvSpPr>
        <p:spPr>
          <a:xfrm>
            <a:off x="8046720" y="3200400"/>
            <a:ext cx="72360" cy="12794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4"/>
          <p:cNvSpPr/>
          <p:nvPr/>
        </p:nvSpPr>
        <p:spPr>
          <a:xfrm>
            <a:off x="8275320" y="3401640"/>
            <a:ext cx="2788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Приложение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5"/>
          <p:cNvSpPr/>
          <p:nvPr/>
        </p:nvSpPr>
        <p:spPr>
          <a:xfrm>
            <a:off x="8275320" y="3794760"/>
            <a:ext cx="2788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локальный интерфейс для просмотра кластеров, вузов и графиков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6"/>
          <p:cNvSpPr/>
          <p:nvPr/>
        </p:nvSpPr>
        <p:spPr>
          <a:xfrm>
            <a:off x="11384280" y="6473880"/>
            <a:ext cx="2278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/>
          <p:cNvSpPr/>
          <p:nvPr/>
        </p:nvSpPr>
        <p:spPr>
          <a:xfrm>
            <a:off x="594360" y="320040"/>
            <a:ext cx="8686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Задачи работы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"/>
          <p:cNvSpPr/>
          <p:nvPr/>
        </p:nvSpPr>
        <p:spPr>
          <a:xfrm>
            <a:off x="621720" y="868680"/>
            <a:ext cx="9874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Последовательность выполнения проекта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"/>
          <p:cNvSpPr/>
          <p:nvPr/>
        </p:nvSpPr>
        <p:spPr>
          <a:xfrm>
            <a:off x="594360" y="1206720"/>
            <a:ext cx="10972800" cy="360"/>
          </a:xfrm>
          <a:prstGeom prst="line">
            <a:avLst/>
          </a:prstGeom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3"/>
          <p:cNvSpPr/>
          <p:nvPr/>
        </p:nvSpPr>
        <p:spPr>
          <a:xfrm>
            <a:off x="822960" y="1572840"/>
            <a:ext cx="502200" cy="502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4"/>
          <p:cNvSpPr/>
          <p:nvPr/>
        </p:nvSpPr>
        <p:spPr>
          <a:xfrm>
            <a:off x="822960" y="1700640"/>
            <a:ext cx="502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5"/>
          <p:cNvSpPr/>
          <p:nvPr/>
        </p:nvSpPr>
        <p:spPr>
          <a:xfrm>
            <a:off x="1508760" y="1673280"/>
            <a:ext cx="9326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Изучить предметную область и структуру открытых данных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6"/>
          <p:cNvSpPr/>
          <p:nvPr/>
        </p:nvSpPr>
        <p:spPr>
          <a:xfrm>
            <a:off x="822960" y="2350080"/>
            <a:ext cx="502200" cy="502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7"/>
          <p:cNvSpPr/>
          <p:nvPr/>
        </p:nvSpPr>
        <p:spPr>
          <a:xfrm>
            <a:off x="822960" y="2477880"/>
            <a:ext cx="502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8"/>
          <p:cNvSpPr/>
          <p:nvPr/>
        </p:nvSpPr>
        <p:spPr>
          <a:xfrm>
            <a:off x="1508760" y="2450520"/>
            <a:ext cx="9326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Выбрать признаки и подготовить таблицу для анализа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9"/>
          <p:cNvSpPr/>
          <p:nvPr/>
        </p:nvSpPr>
        <p:spPr>
          <a:xfrm>
            <a:off x="822960" y="3127320"/>
            <a:ext cx="502200" cy="502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0"/>
          <p:cNvSpPr/>
          <p:nvPr/>
        </p:nvSpPr>
        <p:spPr>
          <a:xfrm>
            <a:off x="822960" y="3255120"/>
            <a:ext cx="502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1"/>
          <p:cNvSpPr/>
          <p:nvPr/>
        </p:nvSpPr>
        <p:spPr>
          <a:xfrm>
            <a:off x="1508760" y="3227760"/>
            <a:ext cx="9326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Выполнить очистку, фильтрацию и масштабирование данных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2"/>
          <p:cNvSpPr/>
          <p:nvPr/>
        </p:nvSpPr>
        <p:spPr>
          <a:xfrm>
            <a:off x="822960" y="3904560"/>
            <a:ext cx="502200" cy="502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3"/>
          <p:cNvSpPr/>
          <p:nvPr/>
        </p:nvSpPr>
        <p:spPr>
          <a:xfrm>
            <a:off x="822960" y="4032360"/>
            <a:ext cx="502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4"/>
          <p:cNvSpPr/>
          <p:nvPr/>
        </p:nvSpPr>
        <p:spPr>
          <a:xfrm>
            <a:off x="1508760" y="4005000"/>
            <a:ext cx="9326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Провести кластеризацию и интерпретировать группы вузов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5"/>
          <p:cNvSpPr/>
          <p:nvPr/>
        </p:nvSpPr>
        <p:spPr>
          <a:xfrm>
            <a:off x="822960" y="4681800"/>
            <a:ext cx="502200" cy="502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6"/>
          <p:cNvSpPr/>
          <p:nvPr/>
        </p:nvSpPr>
        <p:spPr>
          <a:xfrm>
            <a:off x="822960" y="4809600"/>
            <a:ext cx="502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7"/>
          <p:cNvSpPr/>
          <p:nvPr/>
        </p:nvSpPr>
        <p:spPr>
          <a:xfrm>
            <a:off x="1508760" y="4782240"/>
            <a:ext cx="9326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Разработать и протестировать приложение на Streamlit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8"/>
          <p:cNvSpPr/>
          <p:nvPr/>
        </p:nvSpPr>
        <p:spPr>
          <a:xfrm>
            <a:off x="11384280" y="6473880"/>
            <a:ext cx="2278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594360" y="320040"/>
            <a:ext cx="8686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Актуальность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621720" y="868680"/>
            <a:ext cx="9874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Кому и зачем нужно приложение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"/>
          <p:cNvSpPr/>
          <p:nvPr/>
        </p:nvSpPr>
        <p:spPr>
          <a:xfrm>
            <a:off x="594360" y="1206720"/>
            <a:ext cx="10972800" cy="360"/>
          </a:xfrm>
          <a:prstGeom prst="line">
            <a:avLst/>
          </a:prstGeom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822960" y="1600200"/>
            <a:ext cx="2193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1f4e79"/>
                </a:solidFill>
                <a:effectLst/>
                <a:uFillTx/>
                <a:latin typeface="Arial"/>
                <a:ea typeface="Arial"/>
              </a:rPr>
              <a:t>Проблема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4"/>
          <p:cNvSpPr/>
          <p:nvPr/>
        </p:nvSpPr>
        <p:spPr>
          <a:xfrm>
            <a:off x="822960" y="2057400"/>
            <a:ext cx="502848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• исходный датасет большой и неудобен для ручного анализа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• показателей много, а структура данных требует подготовки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• сложно быстро понять, какие вузы похожи друг на друга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5"/>
          <p:cNvSpPr/>
          <p:nvPr/>
        </p:nvSpPr>
        <p:spPr>
          <a:xfrm>
            <a:off x="6400800" y="1600200"/>
            <a:ext cx="2376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2a9d8f"/>
                </a:solidFill>
                <a:effectLst/>
                <a:uFillTx/>
                <a:latin typeface="Arial"/>
                <a:ea typeface="Arial"/>
              </a:rPr>
              <a:t>Пользователи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6"/>
          <p:cNvSpPr/>
          <p:nvPr/>
        </p:nvSpPr>
        <p:spPr>
          <a:xfrm>
            <a:off x="6400800" y="2057400"/>
            <a:ext cx="475416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• абитуриенты и студенты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• преподаватели и сотрудники вузов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• исследователи сферы образования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7"/>
          <p:cNvSpPr/>
          <p:nvPr/>
        </p:nvSpPr>
        <p:spPr>
          <a:xfrm>
            <a:off x="6080760" y="1554480"/>
            <a:ext cx="360" cy="3383280"/>
          </a:xfrm>
          <a:prstGeom prst="line">
            <a:avLst/>
          </a:prstGeom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8"/>
          <p:cNvSpPr/>
          <p:nvPr/>
        </p:nvSpPr>
        <p:spPr>
          <a:xfrm>
            <a:off x="960120" y="4892040"/>
            <a:ext cx="10240560" cy="95940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9"/>
          <p:cNvSpPr/>
          <p:nvPr/>
        </p:nvSpPr>
        <p:spPr>
          <a:xfrm>
            <a:off x="960120" y="4892040"/>
            <a:ext cx="72360" cy="9594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0"/>
          <p:cNvSpPr/>
          <p:nvPr/>
        </p:nvSpPr>
        <p:spPr>
          <a:xfrm>
            <a:off x="1143000" y="5074920"/>
            <a:ext cx="2925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Практическая ценность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1"/>
          <p:cNvSpPr/>
          <p:nvPr/>
        </p:nvSpPr>
        <p:spPr>
          <a:xfrm>
            <a:off x="1143000" y="5394960"/>
            <a:ext cx="94176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Приложение превращает сложную таблицу в понятный инструмент: фильтры, отчёт по кластеру, карточка вуза и PCA-визуализация.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2"/>
          <p:cNvSpPr/>
          <p:nvPr/>
        </p:nvSpPr>
        <p:spPr>
          <a:xfrm>
            <a:off x="11384280" y="6473880"/>
            <a:ext cx="2278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594360" y="320040"/>
            <a:ext cx="8686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Данные и признаки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621720" y="868680"/>
            <a:ext cx="9874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Основа анализа — открытый датасет показателей эффективности вузов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"/>
          <p:cNvSpPr/>
          <p:nvPr/>
        </p:nvSpPr>
        <p:spPr>
          <a:xfrm>
            <a:off x="594360" y="1206720"/>
            <a:ext cx="10972800" cy="360"/>
          </a:xfrm>
          <a:prstGeom prst="line">
            <a:avLst/>
          </a:prstGeom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822960" y="150876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f4e79"/>
                </a:solidFill>
                <a:effectLst/>
                <a:uFillTx/>
                <a:latin typeface="Arial"/>
                <a:ea typeface="Arial"/>
              </a:rPr>
              <a:t>2025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4"/>
          <p:cNvSpPr/>
          <p:nvPr/>
        </p:nvSpPr>
        <p:spPr>
          <a:xfrm>
            <a:off x="822960" y="2039040"/>
            <a:ext cx="1828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год анализа</a:t>
            </a:r>
            <a:endParaRPr lang="ru-R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5"/>
          <p:cNvSpPr/>
          <p:nvPr/>
        </p:nvSpPr>
        <p:spPr>
          <a:xfrm>
            <a:off x="3063240" y="150876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2a9d8f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3063240" y="2039040"/>
            <a:ext cx="1828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отобранных признаков</a:t>
            </a:r>
            <a:endParaRPr lang="ru-R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7"/>
          <p:cNvSpPr/>
          <p:nvPr/>
        </p:nvSpPr>
        <p:spPr>
          <a:xfrm>
            <a:off x="5303520" y="150876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7b61ff"/>
                </a:solidFill>
                <a:effectLst/>
                <a:uFillTx/>
                <a:latin typeface="Arial"/>
                <a:ea typeface="Arial"/>
              </a:rPr>
              <a:t>239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8"/>
          <p:cNvSpPr/>
          <p:nvPr/>
        </p:nvSpPr>
        <p:spPr>
          <a:xfrm>
            <a:off x="5303520" y="2039040"/>
            <a:ext cx="1828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вузов после фильтрации</a:t>
            </a:r>
            <a:endParaRPr lang="ru-R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9"/>
          <p:cNvSpPr/>
          <p:nvPr/>
        </p:nvSpPr>
        <p:spPr>
          <a:xfrm>
            <a:off x="7543800" y="150876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4c542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0"/>
          <p:cNvSpPr/>
          <p:nvPr/>
        </p:nvSpPr>
        <p:spPr>
          <a:xfrm>
            <a:off x="7543800" y="2039040"/>
            <a:ext cx="1828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итоговых кластера</a:t>
            </a:r>
            <a:endParaRPr lang="ru-R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1"/>
          <p:cNvSpPr/>
          <p:nvPr/>
        </p:nvSpPr>
        <p:spPr>
          <a:xfrm>
            <a:off x="822960" y="2880360"/>
            <a:ext cx="365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Использованные признаки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2"/>
          <p:cNvSpPr/>
          <p:nvPr/>
        </p:nvSpPr>
        <p:spPr>
          <a:xfrm>
            <a:off x="822960" y="3337560"/>
            <a:ext cx="4754160" cy="20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• средний ЕГЭ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• приведённый контингент студентов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• доля иностранных студентов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• средняя зарплата ППС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• публикации и цитирования на 1 НПР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• доходы на 1 студента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3"/>
          <p:cNvSpPr/>
          <p:nvPr/>
        </p:nvSpPr>
        <p:spPr>
          <a:xfrm>
            <a:off x="6400800" y="2880360"/>
            <a:ext cx="365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Обработка данных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4"/>
          <p:cNvSpPr/>
          <p:nvPr/>
        </p:nvSpPr>
        <p:spPr>
          <a:xfrm>
            <a:off x="6400800" y="3337560"/>
            <a:ext cx="457128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• переход из длинного формата в широкий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• удаление пропусков и аномальных наблюдений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• логарифмирование сильно различающихся признаков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• стандартизация перед кластеризацией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5"/>
          <p:cNvSpPr/>
          <p:nvPr/>
        </p:nvSpPr>
        <p:spPr>
          <a:xfrm>
            <a:off x="11384280" y="6473880"/>
            <a:ext cx="2278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594360" y="320040"/>
            <a:ext cx="8686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Машинное обучение в проекте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"/>
          <p:cNvSpPr/>
          <p:nvPr/>
        </p:nvSpPr>
        <p:spPr>
          <a:xfrm>
            <a:off x="621720" y="868680"/>
            <a:ext cx="9874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Кластеризация — обучение без учителя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"/>
          <p:cNvSpPr/>
          <p:nvPr/>
        </p:nvSpPr>
        <p:spPr>
          <a:xfrm>
            <a:off x="594360" y="1206720"/>
            <a:ext cx="10972800" cy="360"/>
          </a:xfrm>
          <a:prstGeom prst="line">
            <a:avLst/>
          </a:prstGeom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3"/>
          <p:cNvSpPr/>
          <p:nvPr/>
        </p:nvSpPr>
        <p:spPr>
          <a:xfrm>
            <a:off x="731520" y="2011680"/>
            <a:ext cx="1645200" cy="114228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4"/>
          <p:cNvSpPr/>
          <p:nvPr/>
        </p:nvSpPr>
        <p:spPr>
          <a:xfrm>
            <a:off x="841320" y="2240280"/>
            <a:ext cx="14256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Данные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5"/>
          <p:cNvSpPr/>
          <p:nvPr/>
        </p:nvSpPr>
        <p:spPr>
          <a:xfrm>
            <a:off x="841320" y="2606040"/>
            <a:ext cx="1425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таблица вузов</a:t>
            </a:r>
            <a:endParaRPr lang="ru-R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6"/>
          <p:cNvSpPr/>
          <p:nvPr/>
        </p:nvSpPr>
        <p:spPr>
          <a:xfrm>
            <a:off x="2423160" y="2606040"/>
            <a:ext cx="502920" cy="360"/>
          </a:xfrm>
          <a:prstGeom prst="line">
            <a:avLst/>
          </a:prstGeom>
          <a:ln w="19050">
            <a:solidFill>
              <a:srgbClr val="5b657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7"/>
          <p:cNvSpPr/>
          <p:nvPr/>
        </p:nvSpPr>
        <p:spPr>
          <a:xfrm>
            <a:off x="3063240" y="2011680"/>
            <a:ext cx="1645200" cy="114228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8"/>
          <p:cNvSpPr/>
          <p:nvPr/>
        </p:nvSpPr>
        <p:spPr>
          <a:xfrm>
            <a:off x="3173040" y="2240280"/>
            <a:ext cx="14256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Подготовка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9"/>
          <p:cNvSpPr/>
          <p:nvPr/>
        </p:nvSpPr>
        <p:spPr>
          <a:xfrm>
            <a:off x="3173040" y="2606040"/>
            <a:ext cx="1425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масштабирование</a:t>
            </a:r>
            <a:endParaRPr lang="ru-R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0"/>
          <p:cNvSpPr/>
          <p:nvPr/>
        </p:nvSpPr>
        <p:spPr>
          <a:xfrm>
            <a:off x="4754880" y="2606040"/>
            <a:ext cx="502920" cy="360"/>
          </a:xfrm>
          <a:prstGeom prst="line">
            <a:avLst/>
          </a:prstGeom>
          <a:ln w="19050">
            <a:solidFill>
              <a:srgbClr val="5b657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1"/>
          <p:cNvSpPr/>
          <p:nvPr/>
        </p:nvSpPr>
        <p:spPr>
          <a:xfrm>
            <a:off x="5394960" y="2011680"/>
            <a:ext cx="1645200" cy="1142280"/>
          </a:xfrm>
          <a:prstGeom prst="roundRect">
            <a:avLst>
              <a:gd name="adj" fmla="val 6400"/>
            </a:avLst>
          </a:prstGeom>
          <a:solidFill>
            <a:srgbClr val="1f4e79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2"/>
          <p:cNvSpPr/>
          <p:nvPr/>
        </p:nvSpPr>
        <p:spPr>
          <a:xfrm>
            <a:off x="5504760" y="2240280"/>
            <a:ext cx="14256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K-means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3"/>
          <p:cNvSpPr/>
          <p:nvPr/>
        </p:nvSpPr>
        <p:spPr>
          <a:xfrm>
            <a:off x="5504760" y="2606040"/>
            <a:ext cx="1425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ddebff"/>
                </a:solidFill>
                <a:effectLst/>
                <a:uFillTx/>
                <a:latin typeface="Arial"/>
                <a:ea typeface="Arial"/>
              </a:rPr>
              <a:t>поиск групп</a:t>
            </a:r>
            <a:endParaRPr lang="ru-R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4"/>
          <p:cNvSpPr/>
          <p:nvPr/>
        </p:nvSpPr>
        <p:spPr>
          <a:xfrm>
            <a:off x="7086600" y="2606040"/>
            <a:ext cx="502920" cy="360"/>
          </a:xfrm>
          <a:prstGeom prst="line">
            <a:avLst/>
          </a:prstGeom>
          <a:ln w="19050">
            <a:solidFill>
              <a:srgbClr val="5b657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5"/>
          <p:cNvSpPr/>
          <p:nvPr/>
        </p:nvSpPr>
        <p:spPr>
          <a:xfrm>
            <a:off x="7726680" y="2011680"/>
            <a:ext cx="1645200" cy="114228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6"/>
          <p:cNvSpPr/>
          <p:nvPr/>
        </p:nvSpPr>
        <p:spPr>
          <a:xfrm>
            <a:off x="7836480" y="2240280"/>
            <a:ext cx="14256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Кластеры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7"/>
          <p:cNvSpPr/>
          <p:nvPr/>
        </p:nvSpPr>
        <p:spPr>
          <a:xfrm>
            <a:off x="7836480" y="2606040"/>
            <a:ext cx="1425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0 / 1 / 2</a:t>
            </a:r>
            <a:endParaRPr lang="ru-R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8"/>
          <p:cNvSpPr/>
          <p:nvPr/>
        </p:nvSpPr>
        <p:spPr>
          <a:xfrm>
            <a:off x="9418320" y="2606040"/>
            <a:ext cx="502920" cy="360"/>
          </a:xfrm>
          <a:prstGeom prst="line">
            <a:avLst/>
          </a:prstGeom>
          <a:ln w="19050">
            <a:solidFill>
              <a:srgbClr val="5b657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9"/>
          <p:cNvSpPr/>
          <p:nvPr/>
        </p:nvSpPr>
        <p:spPr>
          <a:xfrm>
            <a:off x="10058400" y="2011680"/>
            <a:ext cx="1645200" cy="114228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0"/>
          <p:cNvSpPr/>
          <p:nvPr/>
        </p:nvSpPr>
        <p:spPr>
          <a:xfrm>
            <a:off x="10168200" y="2240280"/>
            <a:ext cx="14256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Интерфейс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1"/>
          <p:cNvSpPr/>
          <p:nvPr/>
        </p:nvSpPr>
        <p:spPr>
          <a:xfrm>
            <a:off x="10168200" y="2606040"/>
            <a:ext cx="1425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Streamlit</a:t>
            </a:r>
            <a:endParaRPr lang="ru-R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2"/>
          <p:cNvSpPr/>
          <p:nvPr/>
        </p:nvSpPr>
        <p:spPr>
          <a:xfrm>
            <a:off x="868680" y="3886200"/>
            <a:ext cx="3153960" cy="123372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3"/>
          <p:cNvSpPr/>
          <p:nvPr/>
        </p:nvSpPr>
        <p:spPr>
          <a:xfrm>
            <a:off x="868680" y="3886200"/>
            <a:ext cx="72360" cy="12337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4"/>
          <p:cNvSpPr/>
          <p:nvPr/>
        </p:nvSpPr>
        <p:spPr>
          <a:xfrm>
            <a:off x="1097280" y="408744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Кластер 0: 24 вуза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5"/>
          <p:cNvSpPr/>
          <p:nvPr/>
        </p:nvSpPr>
        <p:spPr>
          <a:xfrm>
            <a:off x="1097280" y="4480560"/>
            <a:ext cx="2742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небольшие вузы с более низкими образовательными и научными показателями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26"/>
          <p:cNvSpPr/>
          <p:nvPr/>
        </p:nvSpPr>
        <p:spPr>
          <a:xfrm>
            <a:off x="4526280" y="3886200"/>
            <a:ext cx="3153960" cy="123372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27"/>
          <p:cNvSpPr/>
          <p:nvPr/>
        </p:nvSpPr>
        <p:spPr>
          <a:xfrm>
            <a:off x="4526280" y="3886200"/>
            <a:ext cx="72360" cy="1233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8"/>
          <p:cNvSpPr/>
          <p:nvPr/>
        </p:nvSpPr>
        <p:spPr>
          <a:xfrm>
            <a:off x="4754880" y="408744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Кластер 1: 59 вузов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9"/>
          <p:cNvSpPr/>
          <p:nvPr/>
        </p:nvSpPr>
        <p:spPr>
          <a:xfrm>
            <a:off x="4754880" y="4480560"/>
            <a:ext cx="2742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сильные крупные вузы с высокими значениями ЕГЭ, науки и международности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30"/>
          <p:cNvSpPr/>
          <p:nvPr/>
        </p:nvSpPr>
        <p:spPr>
          <a:xfrm>
            <a:off x="8183880" y="3886200"/>
            <a:ext cx="3153960" cy="123372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31"/>
          <p:cNvSpPr/>
          <p:nvPr/>
        </p:nvSpPr>
        <p:spPr>
          <a:xfrm>
            <a:off x="8183880" y="3886200"/>
            <a:ext cx="72360" cy="123372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2"/>
          <p:cNvSpPr/>
          <p:nvPr/>
        </p:nvSpPr>
        <p:spPr>
          <a:xfrm>
            <a:off x="8412480" y="408744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Кластер 2: 156 вузов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33"/>
          <p:cNvSpPr/>
          <p:nvPr/>
        </p:nvSpPr>
        <p:spPr>
          <a:xfrm>
            <a:off x="8412480" y="4480560"/>
            <a:ext cx="2742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вузы со средними и устойчивыми показателями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4"/>
          <p:cNvSpPr/>
          <p:nvPr/>
        </p:nvSpPr>
        <p:spPr>
          <a:xfrm>
            <a:off x="914400" y="5715000"/>
            <a:ext cx="10423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Итоговое число кластеров выбрано по silhouette score: k = 3.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35"/>
          <p:cNvSpPr/>
          <p:nvPr/>
        </p:nvSpPr>
        <p:spPr>
          <a:xfrm>
            <a:off x="11384280" y="6473880"/>
            <a:ext cx="2278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0"/>
          <p:cNvSpPr/>
          <p:nvPr/>
        </p:nvSpPr>
        <p:spPr>
          <a:xfrm>
            <a:off x="594360" y="320040"/>
            <a:ext cx="8686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Основные возможности приложения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"/>
          <p:cNvSpPr/>
          <p:nvPr/>
        </p:nvSpPr>
        <p:spPr>
          <a:xfrm>
            <a:off x="621720" y="868680"/>
            <a:ext cx="9874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Что пользователь может сделать в интерфейсе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2"/>
          <p:cNvSpPr/>
          <p:nvPr/>
        </p:nvSpPr>
        <p:spPr>
          <a:xfrm>
            <a:off x="594360" y="1206720"/>
            <a:ext cx="10972800" cy="360"/>
          </a:xfrm>
          <a:prstGeom prst="line">
            <a:avLst/>
          </a:prstGeom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3"/>
          <p:cNvSpPr/>
          <p:nvPr/>
        </p:nvSpPr>
        <p:spPr>
          <a:xfrm>
            <a:off x="777240" y="1600200"/>
            <a:ext cx="3474000" cy="11880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4"/>
          <p:cNvSpPr/>
          <p:nvPr/>
        </p:nvSpPr>
        <p:spPr>
          <a:xfrm>
            <a:off x="777240" y="1600200"/>
            <a:ext cx="72360" cy="118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5"/>
          <p:cNvSpPr/>
          <p:nvPr/>
        </p:nvSpPr>
        <p:spPr>
          <a:xfrm>
            <a:off x="1005840" y="1801440"/>
            <a:ext cx="3062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Фильтрация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1005840" y="2194560"/>
            <a:ext cx="3062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выбор региона, кластера и конкретного вуза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7"/>
          <p:cNvSpPr/>
          <p:nvPr/>
        </p:nvSpPr>
        <p:spPr>
          <a:xfrm>
            <a:off x="4343400" y="1600200"/>
            <a:ext cx="3474000" cy="11880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8"/>
          <p:cNvSpPr/>
          <p:nvPr/>
        </p:nvSpPr>
        <p:spPr>
          <a:xfrm>
            <a:off x="4343400" y="1600200"/>
            <a:ext cx="72360" cy="118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9"/>
          <p:cNvSpPr/>
          <p:nvPr/>
        </p:nvSpPr>
        <p:spPr>
          <a:xfrm>
            <a:off x="4572000" y="1801440"/>
            <a:ext cx="3062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Отчёт по кластеру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0"/>
          <p:cNvSpPr/>
          <p:nvPr/>
        </p:nvSpPr>
        <p:spPr>
          <a:xfrm>
            <a:off x="4572000" y="2194560"/>
            <a:ext cx="3062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описание группы, средние показатели, все вузы кластера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1"/>
          <p:cNvSpPr/>
          <p:nvPr/>
        </p:nvSpPr>
        <p:spPr>
          <a:xfrm>
            <a:off x="7909560" y="1600200"/>
            <a:ext cx="3474000" cy="11880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2"/>
          <p:cNvSpPr/>
          <p:nvPr/>
        </p:nvSpPr>
        <p:spPr>
          <a:xfrm>
            <a:off x="7909560" y="1600200"/>
            <a:ext cx="72360" cy="11880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3"/>
          <p:cNvSpPr/>
          <p:nvPr/>
        </p:nvSpPr>
        <p:spPr>
          <a:xfrm>
            <a:off x="8138160" y="1801440"/>
            <a:ext cx="3062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Карточка вуза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4"/>
          <p:cNvSpPr/>
          <p:nvPr/>
        </p:nvSpPr>
        <p:spPr>
          <a:xfrm>
            <a:off x="8138160" y="2194560"/>
            <a:ext cx="3062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показатели, средний профиль кластера и похожие организации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5"/>
          <p:cNvSpPr/>
          <p:nvPr/>
        </p:nvSpPr>
        <p:spPr>
          <a:xfrm>
            <a:off x="2514600" y="3337560"/>
            <a:ext cx="3474000" cy="11880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6"/>
          <p:cNvSpPr/>
          <p:nvPr/>
        </p:nvSpPr>
        <p:spPr>
          <a:xfrm>
            <a:off x="2514600" y="3337560"/>
            <a:ext cx="72360" cy="118800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7"/>
          <p:cNvSpPr/>
          <p:nvPr/>
        </p:nvSpPr>
        <p:spPr>
          <a:xfrm>
            <a:off x="2743200" y="3538800"/>
            <a:ext cx="3062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Визуализация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8"/>
          <p:cNvSpPr/>
          <p:nvPr/>
        </p:nvSpPr>
        <p:spPr>
          <a:xfrm>
            <a:off x="2743200" y="3931920"/>
            <a:ext cx="3062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PCA-график показывает распределение вузов по группам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9"/>
          <p:cNvSpPr/>
          <p:nvPr/>
        </p:nvSpPr>
        <p:spPr>
          <a:xfrm>
            <a:off x="6263640" y="3337560"/>
            <a:ext cx="3474000" cy="11880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20"/>
          <p:cNvSpPr/>
          <p:nvPr/>
        </p:nvSpPr>
        <p:spPr>
          <a:xfrm>
            <a:off x="6263640" y="3337560"/>
            <a:ext cx="72360" cy="1188000"/>
          </a:xfrm>
          <a:prstGeom prst="rect">
            <a:avLst/>
          </a:prstGeom>
          <a:solidFill>
            <a:srgbClr val="2f6ea5"/>
          </a:solidFill>
          <a:ln w="12700">
            <a:solidFill>
              <a:srgbClr val="2f6ea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1"/>
          <p:cNvSpPr/>
          <p:nvPr/>
        </p:nvSpPr>
        <p:spPr>
          <a:xfrm>
            <a:off x="6492240" y="3538800"/>
            <a:ext cx="3062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Проверка данных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2"/>
          <p:cNvSpPr/>
          <p:nvPr/>
        </p:nvSpPr>
        <p:spPr>
          <a:xfrm>
            <a:off x="6492240" y="3931920"/>
            <a:ext cx="3062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контроль наличия файлов, столбцов и корректных типов данных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3"/>
          <p:cNvSpPr/>
          <p:nvPr/>
        </p:nvSpPr>
        <p:spPr>
          <a:xfrm>
            <a:off x="11384280" y="6473880"/>
            <a:ext cx="2278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0"/>
          <p:cNvSpPr/>
          <p:nvPr/>
        </p:nvSpPr>
        <p:spPr>
          <a:xfrm>
            <a:off x="594360" y="320040"/>
            <a:ext cx="8686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Технологии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"/>
          <p:cNvSpPr/>
          <p:nvPr/>
        </p:nvSpPr>
        <p:spPr>
          <a:xfrm>
            <a:off x="621720" y="868680"/>
            <a:ext cx="9874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Инструменты, использованные при разработке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2"/>
          <p:cNvSpPr/>
          <p:nvPr/>
        </p:nvSpPr>
        <p:spPr>
          <a:xfrm>
            <a:off x="594360" y="1206720"/>
            <a:ext cx="10972800" cy="360"/>
          </a:xfrm>
          <a:prstGeom prst="line">
            <a:avLst/>
          </a:prstGeom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3"/>
          <p:cNvSpPr/>
          <p:nvPr/>
        </p:nvSpPr>
        <p:spPr>
          <a:xfrm>
            <a:off x="777240" y="1554480"/>
            <a:ext cx="3382560" cy="11880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4"/>
          <p:cNvSpPr/>
          <p:nvPr/>
        </p:nvSpPr>
        <p:spPr>
          <a:xfrm>
            <a:off x="777240" y="1554480"/>
            <a:ext cx="72360" cy="118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5"/>
          <p:cNvSpPr/>
          <p:nvPr/>
        </p:nvSpPr>
        <p:spPr>
          <a:xfrm>
            <a:off x="1005840" y="1755720"/>
            <a:ext cx="2971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Python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6"/>
          <p:cNvSpPr/>
          <p:nvPr/>
        </p:nvSpPr>
        <p:spPr>
          <a:xfrm>
            <a:off x="1005840" y="2148840"/>
            <a:ext cx="29710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основной язык программирования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7"/>
          <p:cNvSpPr/>
          <p:nvPr/>
        </p:nvSpPr>
        <p:spPr>
          <a:xfrm>
            <a:off x="4389120" y="1554480"/>
            <a:ext cx="3382560" cy="11880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8"/>
          <p:cNvSpPr/>
          <p:nvPr/>
        </p:nvSpPr>
        <p:spPr>
          <a:xfrm>
            <a:off x="4389120" y="1554480"/>
            <a:ext cx="72360" cy="118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9"/>
          <p:cNvSpPr/>
          <p:nvPr/>
        </p:nvSpPr>
        <p:spPr>
          <a:xfrm>
            <a:off x="4617720" y="1755720"/>
            <a:ext cx="2971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pandas + numpy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0"/>
          <p:cNvSpPr/>
          <p:nvPr/>
        </p:nvSpPr>
        <p:spPr>
          <a:xfrm>
            <a:off x="4617720" y="2148840"/>
            <a:ext cx="29710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загрузка, преобразование и численная обработка данных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1"/>
          <p:cNvSpPr/>
          <p:nvPr/>
        </p:nvSpPr>
        <p:spPr>
          <a:xfrm>
            <a:off x="8001000" y="1554480"/>
            <a:ext cx="3382560" cy="11880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2"/>
          <p:cNvSpPr/>
          <p:nvPr/>
        </p:nvSpPr>
        <p:spPr>
          <a:xfrm>
            <a:off x="8001000" y="1554480"/>
            <a:ext cx="72360" cy="11880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3"/>
          <p:cNvSpPr/>
          <p:nvPr/>
        </p:nvSpPr>
        <p:spPr>
          <a:xfrm>
            <a:off x="8229600" y="1755720"/>
            <a:ext cx="2971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scikit-learn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4"/>
          <p:cNvSpPr/>
          <p:nvPr/>
        </p:nvSpPr>
        <p:spPr>
          <a:xfrm>
            <a:off x="8229600" y="2148840"/>
            <a:ext cx="29710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StandardScaler, KMeans, silhouette score, PCA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5"/>
          <p:cNvSpPr/>
          <p:nvPr/>
        </p:nvSpPr>
        <p:spPr>
          <a:xfrm>
            <a:off x="2011680" y="3337560"/>
            <a:ext cx="3474000" cy="11880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6"/>
          <p:cNvSpPr/>
          <p:nvPr/>
        </p:nvSpPr>
        <p:spPr>
          <a:xfrm>
            <a:off x="2011680" y="3337560"/>
            <a:ext cx="72360" cy="118800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7"/>
          <p:cNvSpPr/>
          <p:nvPr/>
        </p:nvSpPr>
        <p:spPr>
          <a:xfrm>
            <a:off x="2240280" y="3538800"/>
            <a:ext cx="3062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matplotlib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8"/>
          <p:cNvSpPr/>
          <p:nvPr/>
        </p:nvSpPr>
        <p:spPr>
          <a:xfrm>
            <a:off x="2240280" y="3931920"/>
            <a:ext cx="3062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построение графиков и визуализаций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9"/>
          <p:cNvSpPr/>
          <p:nvPr/>
        </p:nvSpPr>
        <p:spPr>
          <a:xfrm>
            <a:off x="6583680" y="3337560"/>
            <a:ext cx="3474000" cy="11880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0"/>
          <p:cNvSpPr/>
          <p:nvPr/>
        </p:nvSpPr>
        <p:spPr>
          <a:xfrm>
            <a:off x="6583680" y="3337560"/>
            <a:ext cx="72360" cy="1188000"/>
          </a:xfrm>
          <a:prstGeom prst="rect">
            <a:avLst/>
          </a:prstGeom>
          <a:solidFill>
            <a:srgbClr val="2f6ea5"/>
          </a:solidFill>
          <a:ln w="12700">
            <a:solidFill>
              <a:srgbClr val="2f6ea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1"/>
          <p:cNvSpPr/>
          <p:nvPr/>
        </p:nvSpPr>
        <p:spPr>
          <a:xfrm>
            <a:off x="6812280" y="3538800"/>
            <a:ext cx="3062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Streamlit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2"/>
          <p:cNvSpPr/>
          <p:nvPr/>
        </p:nvSpPr>
        <p:spPr>
          <a:xfrm>
            <a:off x="6812280" y="3931920"/>
            <a:ext cx="3062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локальное веб-приложение для демонстрации результата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3"/>
          <p:cNvSpPr/>
          <p:nvPr/>
        </p:nvSpPr>
        <p:spPr>
          <a:xfrm>
            <a:off x="914400" y="5577840"/>
            <a:ext cx="10332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Формат проекта: Jupyter Notebook для анализа + app.py для приложения.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4"/>
          <p:cNvSpPr/>
          <p:nvPr/>
        </p:nvSpPr>
        <p:spPr>
          <a:xfrm>
            <a:off x="11384280" y="6473880"/>
            <a:ext cx="2278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18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2"/>
          <p:cNvSpPr/>
          <p:nvPr/>
        </p:nvSpPr>
        <p:spPr>
          <a:xfrm>
            <a:off x="594360" y="255960"/>
            <a:ext cx="815004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Демонстрация: стартовый экран — фильтры и структура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3"/>
          <p:cNvSpPr/>
          <p:nvPr/>
        </p:nvSpPr>
        <p:spPr>
          <a:xfrm>
            <a:off x="621720" y="694800"/>
            <a:ext cx="48506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d1e1f7"/>
                </a:solidFill>
                <a:effectLst/>
                <a:uFillTx/>
                <a:latin typeface="Arial"/>
              </a:rPr>
              <a:t>Выбор региона, кластера и вуза, а также пояснение смысла кластеров.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ectangle 4"/>
          <p:cNvSpPr/>
          <p:nvPr/>
        </p:nvSpPr>
        <p:spPr>
          <a:xfrm>
            <a:off x="594360" y="1024200"/>
            <a:ext cx="10881000" cy="18000"/>
          </a:xfrm>
          <a:prstGeom prst="rect">
            <a:avLst/>
          </a:prstGeom>
          <a:solidFill>
            <a:srgbClr val="789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5"/>
          <p:cNvSpPr/>
          <p:nvPr/>
        </p:nvSpPr>
        <p:spPr>
          <a:xfrm>
            <a:off x="11399400" y="6419160"/>
            <a:ext cx="258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>
              <a:lnSpc>
                <a:spcPct val="100000"/>
              </a:lnSpc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9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2" name=""/>
          <p:cNvPicPr/>
          <p:nvPr/>
        </p:nvPicPr>
        <p:blipFill>
          <a:blip r:embed="rId1"/>
          <a:stretch/>
        </p:blipFill>
        <p:spPr>
          <a:xfrm>
            <a:off x="-4680" y="1080000"/>
            <a:ext cx="12191760" cy="577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18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2"/>
          <p:cNvSpPr/>
          <p:nvPr/>
        </p:nvSpPr>
        <p:spPr>
          <a:xfrm>
            <a:off x="594360" y="255960"/>
            <a:ext cx="777276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Демонстрация: стартовый экран — PCA-визуализация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3"/>
          <p:cNvSpPr/>
          <p:nvPr/>
        </p:nvSpPr>
        <p:spPr>
          <a:xfrm>
            <a:off x="621720" y="694800"/>
            <a:ext cx="49820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d1e1f7"/>
                </a:solidFill>
                <a:effectLst/>
                <a:uFillTx/>
                <a:latin typeface="Arial"/>
              </a:rPr>
              <a:t>PCA-график показывает общее распределение вузов по трём кластерам.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ectangle 4"/>
          <p:cNvSpPr/>
          <p:nvPr/>
        </p:nvSpPr>
        <p:spPr>
          <a:xfrm>
            <a:off x="594360" y="1024200"/>
            <a:ext cx="10881000" cy="18000"/>
          </a:xfrm>
          <a:prstGeom prst="rect">
            <a:avLst/>
          </a:prstGeom>
          <a:solidFill>
            <a:srgbClr val="789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77" name="Picture 7" descr="img1_bottom.png"/>
          <p:cNvPicPr/>
          <p:nvPr/>
        </p:nvPicPr>
        <p:blipFill>
          <a:blip r:embed="rId1"/>
          <a:stretch/>
        </p:blipFill>
        <p:spPr>
          <a:xfrm>
            <a:off x="2319480" y="1234440"/>
            <a:ext cx="7485840" cy="512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TextBox 1"/>
          <p:cNvSpPr/>
          <p:nvPr/>
        </p:nvSpPr>
        <p:spPr>
          <a:xfrm>
            <a:off x="11322720" y="6419520"/>
            <a:ext cx="3358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>
              <a:lnSpc>
                <a:spcPct val="100000"/>
              </a:lnSpc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10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18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2"/>
          <p:cNvSpPr/>
          <p:nvPr/>
        </p:nvSpPr>
        <p:spPr>
          <a:xfrm>
            <a:off x="594360" y="255960"/>
            <a:ext cx="807804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Демонстрация: отчёт по кластеру — основные сведения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3"/>
          <p:cNvSpPr/>
          <p:nvPr/>
        </p:nvSpPr>
        <p:spPr>
          <a:xfrm>
            <a:off x="621720" y="694800"/>
            <a:ext cx="56901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d1e1f7"/>
                </a:solidFill>
                <a:effectLst/>
                <a:uFillTx/>
                <a:latin typeface="Arial"/>
              </a:rPr>
              <a:t>Описание выбранного кластера, количество вузов и средние значения показателей.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ectangle 4"/>
          <p:cNvSpPr/>
          <p:nvPr/>
        </p:nvSpPr>
        <p:spPr>
          <a:xfrm>
            <a:off x="594360" y="1024200"/>
            <a:ext cx="10881000" cy="18000"/>
          </a:xfrm>
          <a:prstGeom prst="rect">
            <a:avLst/>
          </a:prstGeom>
          <a:solidFill>
            <a:srgbClr val="789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5"/>
          <p:cNvSpPr/>
          <p:nvPr/>
        </p:nvSpPr>
        <p:spPr>
          <a:xfrm>
            <a:off x="11332800" y="6419160"/>
            <a:ext cx="325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>
              <a:lnSpc>
                <a:spcPct val="100000"/>
              </a:lnSpc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11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4" name=""/>
          <p:cNvPicPr/>
          <p:nvPr/>
        </p:nvPicPr>
        <p:blipFill>
          <a:blip r:embed="rId1"/>
          <a:stretch/>
        </p:blipFill>
        <p:spPr>
          <a:xfrm>
            <a:off x="360" y="1260000"/>
            <a:ext cx="12191760" cy="559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18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2"/>
          <p:cNvSpPr/>
          <p:nvPr/>
        </p:nvSpPr>
        <p:spPr>
          <a:xfrm>
            <a:off x="594360" y="255960"/>
            <a:ext cx="954468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Демонстрация: отчёт по кластеру — представители и список вузов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3"/>
          <p:cNvSpPr/>
          <p:nvPr/>
        </p:nvSpPr>
        <p:spPr>
          <a:xfrm>
            <a:off x="621720" y="694800"/>
            <a:ext cx="389880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d1e1f7"/>
                </a:solidFill>
                <a:effectLst/>
                <a:uFillTx/>
                <a:latin typeface="Arial"/>
              </a:rPr>
              <a:t>Типичные представители и состав выбранного кластера.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4"/>
          <p:cNvSpPr/>
          <p:nvPr/>
        </p:nvSpPr>
        <p:spPr>
          <a:xfrm>
            <a:off x="594360" y="1024200"/>
            <a:ext cx="10881000" cy="18000"/>
          </a:xfrm>
          <a:prstGeom prst="rect">
            <a:avLst/>
          </a:prstGeom>
          <a:solidFill>
            <a:srgbClr val="789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89" name=""/>
          <p:cNvPicPr/>
          <p:nvPr/>
        </p:nvPicPr>
        <p:blipFill>
          <a:blip r:embed="rId1"/>
          <a:stretch/>
        </p:blipFill>
        <p:spPr>
          <a:xfrm>
            <a:off x="0" y="1080000"/>
            <a:ext cx="12191760" cy="576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TextBox 4"/>
          <p:cNvSpPr/>
          <p:nvPr/>
        </p:nvSpPr>
        <p:spPr>
          <a:xfrm>
            <a:off x="11322720" y="6419520"/>
            <a:ext cx="3358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>
              <a:lnSpc>
                <a:spcPct val="100000"/>
              </a:lnSpc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12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18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2"/>
          <p:cNvSpPr/>
          <p:nvPr/>
        </p:nvSpPr>
        <p:spPr>
          <a:xfrm>
            <a:off x="594360" y="255960"/>
            <a:ext cx="773892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Демонстрация: карточка вуза — основные показатели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3"/>
          <p:cNvSpPr/>
          <p:nvPr/>
        </p:nvSpPr>
        <p:spPr>
          <a:xfrm>
            <a:off x="621720" y="694800"/>
            <a:ext cx="4984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d1e1f7"/>
                </a:solidFill>
                <a:effectLst/>
                <a:uFillTx/>
                <a:latin typeface="Arial"/>
              </a:rPr>
              <a:t>Общая информация о вузе, его показатели и средний профиль кластера.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Rectangle 4"/>
          <p:cNvSpPr/>
          <p:nvPr/>
        </p:nvSpPr>
        <p:spPr>
          <a:xfrm>
            <a:off x="594360" y="1024200"/>
            <a:ext cx="10881000" cy="18000"/>
          </a:xfrm>
          <a:prstGeom prst="rect">
            <a:avLst/>
          </a:prstGeom>
          <a:solidFill>
            <a:srgbClr val="789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95" name=""/>
          <p:cNvPicPr/>
          <p:nvPr/>
        </p:nvPicPr>
        <p:blipFill>
          <a:blip r:embed="rId1"/>
          <a:stretch/>
        </p:blipFill>
        <p:spPr>
          <a:xfrm>
            <a:off x="1980000" y="1080000"/>
            <a:ext cx="7790760" cy="577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TextBox 6"/>
          <p:cNvSpPr/>
          <p:nvPr/>
        </p:nvSpPr>
        <p:spPr>
          <a:xfrm>
            <a:off x="11322720" y="6419520"/>
            <a:ext cx="3358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>
              <a:lnSpc>
                <a:spcPct val="100000"/>
              </a:lnSpc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13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18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2"/>
          <p:cNvSpPr/>
          <p:nvPr/>
        </p:nvSpPr>
        <p:spPr>
          <a:xfrm>
            <a:off x="594360" y="255960"/>
            <a:ext cx="842292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Демонстрация: карточка вуза — сравнение и визуализация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3"/>
          <p:cNvSpPr/>
          <p:nvPr/>
        </p:nvSpPr>
        <p:spPr>
          <a:xfrm>
            <a:off x="621720" y="694800"/>
            <a:ext cx="60271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d1e1f7"/>
                </a:solidFill>
                <a:effectLst/>
                <a:uFillTx/>
                <a:latin typeface="Arial"/>
              </a:rPr>
              <a:t>Сравнение со средним профилем кластера, похожие вузы и положение на PCA-графике.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Rectangle 4"/>
          <p:cNvSpPr/>
          <p:nvPr/>
        </p:nvSpPr>
        <p:spPr>
          <a:xfrm>
            <a:off x="594360" y="1024200"/>
            <a:ext cx="10881000" cy="18000"/>
          </a:xfrm>
          <a:prstGeom prst="rect">
            <a:avLst/>
          </a:prstGeom>
          <a:solidFill>
            <a:srgbClr val="789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01" name=""/>
          <p:cNvPicPr/>
          <p:nvPr/>
        </p:nvPicPr>
        <p:blipFill>
          <a:blip r:embed="rId1"/>
          <a:stretch/>
        </p:blipFill>
        <p:spPr>
          <a:xfrm>
            <a:off x="2700000" y="1042200"/>
            <a:ext cx="6753600" cy="581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TextBox 7"/>
          <p:cNvSpPr/>
          <p:nvPr/>
        </p:nvSpPr>
        <p:spPr>
          <a:xfrm>
            <a:off x="11322720" y="6419520"/>
            <a:ext cx="3358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>
              <a:lnSpc>
                <a:spcPct val="100000"/>
              </a:lnSpc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14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 19"/>
          <p:cNvSpPr/>
          <p:nvPr/>
        </p:nvSpPr>
        <p:spPr>
          <a:xfrm>
            <a:off x="594360" y="320040"/>
            <a:ext cx="8686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Заключение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6"/>
          <p:cNvSpPr/>
          <p:nvPr/>
        </p:nvSpPr>
        <p:spPr>
          <a:xfrm>
            <a:off x="621720" y="868680"/>
            <a:ext cx="9874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Что было получено в результате работы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7"/>
          <p:cNvSpPr/>
          <p:nvPr/>
        </p:nvSpPr>
        <p:spPr>
          <a:xfrm>
            <a:off x="594360" y="1206720"/>
            <a:ext cx="10972800" cy="360"/>
          </a:xfrm>
          <a:prstGeom prst="line">
            <a:avLst/>
          </a:prstGeom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7"/>
          <p:cNvSpPr/>
          <p:nvPr/>
        </p:nvSpPr>
        <p:spPr>
          <a:xfrm>
            <a:off x="822960" y="1600200"/>
            <a:ext cx="566856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• подготовлен открытый датасет показателей эффективности вузов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• выполнена кластеризация методом K-means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• получены 3 интерпретируемые группы вузов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• разработано локальное Streamlit-приложение для демонстрации результатов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• добавлены проверки входных данных и отчёт по выбранному кластеру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1"/>
          <p:cNvSpPr/>
          <p:nvPr/>
        </p:nvSpPr>
        <p:spPr>
          <a:xfrm>
            <a:off x="7040880" y="1600200"/>
            <a:ext cx="4205520" cy="10051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24"/>
          <p:cNvSpPr/>
          <p:nvPr/>
        </p:nvSpPr>
        <p:spPr>
          <a:xfrm>
            <a:off x="7040880" y="1600200"/>
            <a:ext cx="72360" cy="10051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0"/>
          <p:cNvSpPr/>
          <p:nvPr/>
        </p:nvSpPr>
        <p:spPr>
          <a:xfrm>
            <a:off x="7269480" y="1801440"/>
            <a:ext cx="3794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Основной результат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31"/>
          <p:cNvSpPr/>
          <p:nvPr/>
        </p:nvSpPr>
        <p:spPr>
          <a:xfrm>
            <a:off x="7269480" y="2194560"/>
            <a:ext cx="37940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рабочий прототип приложения для анализа и сравнения российских вузов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25"/>
          <p:cNvSpPr/>
          <p:nvPr/>
        </p:nvSpPr>
        <p:spPr>
          <a:xfrm>
            <a:off x="7037280" y="2911680"/>
            <a:ext cx="4205520" cy="86796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28"/>
          <p:cNvSpPr/>
          <p:nvPr/>
        </p:nvSpPr>
        <p:spPr>
          <a:xfrm>
            <a:off x="7037280" y="2911680"/>
            <a:ext cx="72360" cy="86796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36"/>
          <p:cNvSpPr/>
          <p:nvPr/>
        </p:nvSpPr>
        <p:spPr>
          <a:xfrm>
            <a:off x="7265880" y="3112920"/>
            <a:ext cx="3794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Практическая польза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37"/>
          <p:cNvSpPr/>
          <p:nvPr/>
        </p:nvSpPr>
        <p:spPr>
          <a:xfrm>
            <a:off x="7265880" y="3506040"/>
            <a:ext cx="3794040" cy="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5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быстрое получение наглядной аналитики без ручной работы с большим CSV-файлом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38"/>
          <p:cNvSpPr/>
          <p:nvPr/>
        </p:nvSpPr>
        <p:spPr>
          <a:xfrm>
            <a:off x="11384280" y="6473880"/>
            <a:ext cx="2278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 39"/>
          <p:cNvSpPr/>
          <p:nvPr/>
        </p:nvSpPr>
        <p:spPr>
          <a:xfrm>
            <a:off x="685800" y="2194560"/>
            <a:ext cx="107892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Спасибо за внимание!</a:t>
            </a: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40"/>
          <p:cNvSpPr/>
          <p:nvPr/>
        </p:nvSpPr>
        <p:spPr>
          <a:xfrm>
            <a:off x="685800" y="3154680"/>
            <a:ext cx="10789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42"/>
          <p:cNvSpPr/>
          <p:nvPr/>
        </p:nvSpPr>
        <p:spPr>
          <a:xfrm>
            <a:off x="11384280" y="6473880"/>
            <a:ext cx="2278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5b6575"/>
                </a:solidFill>
                <a:effectLst/>
                <a:uFillTx/>
                <a:latin typeface="Arial"/>
                <a:ea typeface="Arial"/>
              </a:rPr>
              <a:t>16</a:t>
            </a:r>
            <a:endParaRPr lang="ru-RU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LibreOffice/25.8.6.2$Windows_X86_64 LibreOffice_project/b4b39682cd9868fa725bc664aff94278d315bd04</Application>
  <AppVersion>15.0000</AppVersion>
  <Words>0</Words>
  <Paragraphs>0</Paragraphs>
  <Company>АлтГУ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2026-06-02T12:21:06Z</dcterms:created>
  <dc:creator>Эндерс Глеб Вадимович</dc:creator>
  <dc:description/>
  <dc:language>ru-RU</dc:language>
  <cp:lastModifiedBy/>
  <dcterms:modified xsi:type="dcterms:W3CDTF">2026-06-09T23:23:41Z</dcterms:modified>
  <cp:revision>3</cp:revision>
  <dc:subject>Курсовой проект</dc:subject>
  <dc:title>Разработка Python-приложения для анализа и кластеризации российских вузов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